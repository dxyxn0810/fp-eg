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61" r:id="rId2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79" d="100"/>
          <a:sy n="79" d="100"/>
        </p:scale>
        <p:origin x="906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2"/>
            <a:ext cx="6119416" cy="250642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BCC7F-5A49-4350-882D-A8BEFA9A91DD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33617-8D13-4134-96E5-0C3F76E3CC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40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BCC7F-5A49-4350-882D-A8BEFA9A91DD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33617-8D13-4134-96E5-0C3F76E3CC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396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94831"/>
            <a:ext cx="6209407" cy="2994714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817876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BCC7F-5A49-4350-882D-A8BEFA9A91DD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33617-8D13-4134-96E5-0C3F76E3CC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8346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BCC7F-5A49-4350-882D-A8BEFA9A91DD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33617-8D13-4134-96E5-0C3F76E3CC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430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83299"/>
            <a:ext cx="6209407" cy="139153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6" cy="386796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BCC7F-5A49-4350-882D-A8BEFA9A91DD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33617-8D13-4134-96E5-0C3F76E3CC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618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BCC7F-5A49-4350-882D-A8BEFA9A91DD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33617-8D13-4134-96E5-0C3F76E3CC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6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BCC7F-5A49-4350-882D-A8BEFA9A91DD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33617-8D13-4134-96E5-0C3F76E3CC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4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BCC7F-5A49-4350-882D-A8BEFA9A91DD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33617-8D13-4134-96E5-0C3F76E3CC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134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BCC7F-5A49-4350-882D-A8BEFA9A91DD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33617-8D13-4134-96E5-0C3F76E3CC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582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BCC7F-5A49-4350-882D-A8BEFA9A91DD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33617-8D13-4134-96E5-0C3F76E3CC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262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7"/>
            <a:ext cx="1552352" cy="610108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BCC7F-5A49-4350-882D-A8BEFA9A91DD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33617-8D13-4134-96E5-0C3F76E3CC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669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7BCC7F-5A49-4350-882D-A8BEFA9A91DD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33617-8D13-4134-96E5-0C3F76E3CC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500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719907" rtl="0" eaLnBrk="1" latinLnBrk="1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-1608667" y="381000"/>
          <a:ext cx="0" cy="0"/>
          <a:chOff x="0" y="0"/>
          <a:chExt cx="0" cy="0"/>
        </a:xfrm>
      </p:grpSpPr>
      <p:sp>
        <p:nvSpPr>
          <p:cNvPr id="10" name="Feasible set C"/>
          <p:cNvSpPr/>
          <p:nvPr/>
        </p:nvSpPr>
        <p:spPr>
          <a:xfrm>
            <a:off x="260105" y="210919"/>
            <a:ext cx="6777477" cy="6777477"/>
          </a:xfrm>
          <a:custGeom>
            <a:avLst/>
            <a:gdLst/>
            <a:ahLst/>
            <a:cxnLst/>
            <a:rect l="0" t="0" r="r" b="b"/>
            <a:pathLst>
              <a:path w="5842000" h="5842000">
                <a:moveTo>
                  <a:pt x="0" y="5842000"/>
                </a:moveTo>
                <a:lnTo>
                  <a:pt x="5842000" y="5842000"/>
                </a:lnTo>
                <a:lnTo>
                  <a:pt x="5842000" y="4935297"/>
                </a:lnTo>
                <a:lnTo>
                  <a:pt x="5721004" y="4920715"/>
                </a:lnTo>
                <a:lnTo>
                  <a:pt x="5596294" y="4903299"/>
                </a:lnTo>
                <a:lnTo>
                  <a:pt x="5472011" y="4883058"/>
                </a:lnTo>
                <a:lnTo>
                  <a:pt x="5348219" y="4860003"/>
                </a:lnTo>
                <a:lnTo>
                  <a:pt x="5224982" y="4834145"/>
                </a:lnTo>
                <a:lnTo>
                  <a:pt x="5102363" y="4805498"/>
                </a:lnTo>
                <a:lnTo>
                  <a:pt x="4980426" y="4774077"/>
                </a:lnTo>
                <a:lnTo>
                  <a:pt x="4859233" y="4739897"/>
                </a:lnTo>
                <a:lnTo>
                  <a:pt x="4738847" y="4702976"/>
                </a:lnTo>
                <a:lnTo>
                  <a:pt x="4619329" y="4663334"/>
                </a:lnTo>
                <a:lnTo>
                  <a:pt x="4500742" y="4620990"/>
                </a:lnTo>
                <a:lnTo>
                  <a:pt x="4383146" y="4575967"/>
                </a:lnTo>
                <a:lnTo>
                  <a:pt x="4266601" y="4528287"/>
                </a:lnTo>
                <a:lnTo>
                  <a:pt x="4151168" y="4477975"/>
                </a:lnTo>
                <a:lnTo>
                  <a:pt x="4036906" y="4425058"/>
                </a:lnTo>
                <a:lnTo>
                  <a:pt x="3923875" y="4369562"/>
                </a:lnTo>
                <a:lnTo>
                  <a:pt x="3812131" y="4311516"/>
                </a:lnTo>
                <a:lnTo>
                  <a:pt x="3701733" y="4250950"/>
                </a:lnTo>
                <a:lnTo>
                  <a:pt x="3592738" y="4187894"/>
                </a:lnTo>
                <a:lnTo>
                  <a:pt x="3485201" y="4122382"/>
                </a:lnTo>
                <a:lnTo>
                  <a:pt x="3379178" y="4054447"/>
                </a:lnTo>
                <a:lnTo>
                  <a:pt x="3274724" y="3984125"/>
                </a:lnTo>
                <a:lnTo>
                  <a:pt x="3171892" y="3911450"/>
                </a:lnTo>
                <a:lnTo>
                  <a:pt x="3070735" y="3836461"/>
                </a:lnTo>
                <a:lnTo>
                  <a:pt x="2971306" y="3759197"/>
                </a:lnTo>
                <a:lnTo>
                  <a:pt x="2873655" y="3679697"/>
                </a:lnTo>
                <a:lnTo>
                  <a:pt x="2777833" y="3598001"/>
                </a:lnTo>
                <a:lnTo>
                  <a:pt x="2683889" y="3514153"/>
                </a:lnTo>
                <a:lnTo>
                  <a:pt x="2591872" y="3428195"/>
                </a:lnTo>
                <a:lnTo>
                  <a:pt x="2501828" y="3340172"/>
                </a:lnTo>
                <a:lnTo>
                  <a:pt x="2413805" y="3250128"/>
                </a:lnTo>
                <a:lnTo>
                  <a:pt x="2327847" y="3158111"/>
                </a:lnTo>
                <a:lnTo>
                  <a:pt x="2243999" y="3064167"/>
                </a:lnTo>
                <a:lnTo>
                  <a:pt x="2162303" y="2968345"/>
                </a:lnTo>
                <a:lnTo>
                  <a:pt x="2082803" y="2870694"/>
                </a:lnTo>
                <a:lnTo>
                  <a:pt x="2005539" y="2771265"/>
                </a:lnTo>
                <a:lnTo>
                  <a:pt x="1930550" y="2670108"/>
                </a:lnTo>
                <a:lnTo>
                  <a:pt x="1857875" y="2567276"/>
                </a:lnTo>
                <a:lnTo>
                  <a:pt x="1787553" y="2462822"/>
                </a:lnTo>
                <a:lnTo>
                  <a:pt x="1719618" y="2356799"/>
                </a:lnTo>
                <a:lnTo>
                  <a:pt x="1654106" y="2249262"/>
                </a:lnTo>
                <a:lnTo>
                  <a:pt x="1591050" y="2140267"/>
                </a:lnTo>
                <a:lnTo>
                  <a:pt x="1530484" y="2029869"/>
                </a:lnTo>
                <a:lnTo>
                  <a:pt x="1472438" y="1918125"/>
                </a:lnTo>
                <a:lnTo>
                  <a:pt x="1416942" y="1805094"/>
                </a:lnTo>
                <a:lnTo>
                  <a:pt x="1364025" y="1690832"/>
                </a:lnTo>
                <a:lnTo>
                  <a:pt x="1313713" y="1575399"/>
                </a:lnTo>
                <a:lnTo>
                  <a:pt x="1266033" y="1458854"/>
                </a:lnTo>
                <a:lnTo>
                  <a:pt x="1221010" y="1341258"/>
                </a:lnTo>
                <a:lnTo>
                  <a:pt x="1178666" y="1222671"/>
                </a:lnTo>
                <a:lnTo>
                  <a:pt x="1139024" y="1103153"/>
                </a:lnTo>
                <a:lnTo>
                  <a:pt x="1102103" y="982767"/>
                </a:lnTo>
                <a:lnTo>
                  <a:pt x="1067923" y="861574"/>
                </a:lnTo>
                <a:lnTo>
                  <a:pt x="1036502" y="739637"/>
                </a:lnTo>
                <a:lnTo>
                  <a:pt x="1007855" y="617018"/>
                </a:lnTo>
                <a:lnTo>
                  <a:pt x="981997" y="493781"/>
                </a:lnTo>
                <a:lnTo>
                  <a:pt x="958942" y="369989"/>
                </a:lnTo>
                <a:lnTo>
                  <a:pt x="938701" y="245706"/>
                </a:lnTo>
                <a:lnTo>
                  <a:pt x="921285" y="120996"/>
                </a:lnTo>
                <a:lnTo>
                  <a:pt x="906703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/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73"/>
          </a:p>
        </p:txBody>
      </p:sp>
      <p:sp>
        <p:nvSpPr>
          <p:cNvPr id="11" name="K_t fill"/>
          <p:cNvSpPr/>
          <p:nvPr/>
        </p:nvSpPr>
        <p:spPr>
          <a:xfrm>
            <a:off x="260105" y="1593522"/>
            <a:ext cx="4581575" cy="5394872"/>
          </a:xfrm>
          <a:prstGeom prst="rect">
            <a:avLst/>
          </a:prstGeom>
          <a:solidFill>
            <a:srgbClr val="C00000">
              <a:alpha val="7000"/>
            </a:srgbClr>
          </a:solidFill>
          <a:ln>
            <a:noFill/>
          </a:ln>
        </p:spPr>
        <p:txBody>
          <a:bodyPr/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73"/>
          </a:p>
        </p:txBody>
      </p:sp>
      <p:sp>
        <p:nvSpPr>
          <p:cNvPr id="12" name="K_t boundary"/>
          <p:cNvSpPr/>
          <p:nvPr/>
        </p:nvSpPr>
        <p:spPr>
          <a:xfrm>
            <a:off x="260105" y="1593522"/>
            <a:ext cx="4581575" cy="5394872"/>
          </a:xfrm>
          <a:custGeom>
            <a:avLst/>
            <a:gdLst/>
            <a:ahLst/>
            <a:cxnLst/>
            <a:rect l="0" t="0" r="r" b="b"/>
            <a:pathLst>
              <a:path w="3949192" h="4650232" fill="none">
                <a:moveTo>
                  <a:pt x="0" y="0"/>
                </a:moveTo>
                <a:lnTo>
                  <a:pt x="3949192" y="0"/>
                </a:lnTo>
                <a:lnTo>
                  <a:pt x="3949192" y="4650232"/>
                </a:lnTo>
              </a:path>
            </a:pathLst>
          </a:custGeom>
          <a:noFill/>
          <a:ln w="28575" cap="rnd">
            <a:solidFill>
              <a:srgbClr val="C00000"/>
            </a:solidFill>
            <a:round/>
          </a:ln>
        </p:spPr>
        <p:txBody>
          <a:bodyPr/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73"/>
          </a:p>
        </p:txBody>
      </p:sp>
      <p:sp>
        <p:nvSpPr>
          <p:cNvPr id="13" name="Boundary of C"/>
          <p:cNvSpPr/>
          <p:nvPr/>
        </p:nvSpPr>
        <p:spPr>
          <a:xfrm>
            <a:off x="1312001" y="210921"/>
            <a:ext cx="5725583" cy="5725583"/>
          </a:xfrm>
          <a:custGeom>
            <a:avLst/>
            <a:gdLst/>
            <a:ahLst/>
            <a:cxnLst/>
            <a:rect l="0" t="0" r="r" b="b"/>
            <a:pathLst>
              <a:path w="4935297" h="4935297" fill="none">
                <a:moveTo>
                  <a:pt x="4935297" y="4935297"/>
                </a:moveTo>
                <a:lnTo>
                  <a:pt x="4814301" y="4920715"/>
                </a:lnTo>
                <a:lnTo>
                  <a:pt x="4689591" y="4903299"/>
                </a:lnTo>
                <a:lnTo>
                  <a:pt x="4565308" y="4883058"/>
                </a:lnTo>
                <a:lnTo>
                  <a:pt x="4441516" y="4860003"/>
                </a:lnTo>
                <a:lnTo>
                  <a:pt x="4318279" y="4834145"/>
                </a:lnTo>
                <a:lnTo>
                  <a:pt x="4195660" y="4805498"/>
                </a:lnTo>
                <a:lnTo>
                  <a:pt x="4073723" y="4774077"/>
                </a:lnTo>
                <a:lnTo>
                  <a:pt x="3952530" y="4739897"/>
                </a:lnTo>
                <a:lnTo>
                  <a:pt x="3832144" y="4702976"/>
                </a:lnTo>
                <a:lnTo>
                  <a:pt x="3712626" y="4663334"/>
                </a:lnTo>
                <a:lnTo>
                  <a:pt x="3594039" y="4620990"/>
                </a:lnTo>
                <a:lnTo>
                  <a:pt x="3476443" y="4575967"/>
                </a:lnTo>
                <a:lnTo>
                  <a:pt x="3359898" y="4528287"/>
                </a:lnTo>
                <a:lnTo>
                  <a:pt x="3244465" y="4477975"/>
                </a:lnTo>
                <a:lnTo>
                  <a:pt x="3130204" y="4425058"/>
                </a:lnTo>
                <a:lnTo>
                  <a:pt x="3017172" y="4369562"/>
                </a:lnTo>
                <a:lnTo>
                  <a:pt x="2905428" y="4311516"/>
                </a:lnTo>
                <a:lnTo>
                  <a:pt x="2795030" y="4250950"/>
                </a:lnTo>
                <a:lnTo>
                  <a:pt x="2686035" y="4187894"/>
                </a:lnTo>
                <a:lnTo>
                  <a:pt x="2578498" y="4122382"/>
                </a:lnTo>
                <a:lnTo>
                  <a:pt x="2472475" y="4054447"/>
                </a:lnTo>
                <a:lnTo>
                  <a:pt x="2368021" y="3984125"/>
                </a:lnTo>
                <a:lnTo>
                  <a:pt x="2265189" y="3911450"/>
                </a:lnTo>
                <a:lnTo>
                  <a:pt x="2164032" y="3836461"/>
                </a:lnTo>
                <a:lnTo>
                  <a:pt x="2064603" y="3759197"/>
                </a:lnTo>
                <a:lnTo>
                  <a:pt x="1966952" y="3679697"/>
                </a:lnTo>
                <a:lnTo>
                  <a:pt x="1871130" y="3598001"/>
                </a:lnTo>
                <a:lnTo>
                  <a:pt x="1777186" y="3514153"/>
                </a:lnTo>
                <a:lnTo>
                  <a:pt x="1685169" y="3428195"/>
                </a:lnTo>
                <a:lnTo>
                  <a:pt x="1595125" y="3340172"/>
                </a:lnTo>
                <a:lnTo>
                  <a:pt x="1507102" y="3250128"/>
                </a:lnTo>
                <a:lnTo>
                  <a:pt x="1421144" y="3158111"/>
                </a:lnTo>
                <a:lnTo>
                  <a:pt x="1337296" y="3064167"/>
                </a:lnTo>
                <a:lnTo>
                  <a:pt x="1255600" y="2968345"/>
                </a:lnTo>
                <a:lnTo>
                  <a:pt x="1176100" y="2870694"/>
                </a:lnTo>
                <a:lnTo>
                  <a:pt x="1098836" y="2771265"/>
                </a:lnTo>
                <a:lnTo>
                  <a:pt x="1023847" y="2670108"/>
                </a:lnTo>
                <a:lnTo>
                  <a:pt x="951173" y="2567276"/>
                </a:lnTo>
                <a:lnTo>
                  <a:pt x="880850" y="2462822"/>
                </a:lnTo>
                <a:lnTo>
                  <a:pt x="812915" y="2356799"/>
                </a:lnTo>
                <a:lnTo>
                  <a:pt x="747403" y="2249262"/>
                </a:lnTo>
                <a:lnTo>
                  <a:pt x="684348" y="2140267"/>
                </a:lnTo>
                <a:lnTo>
                  <a:pt x="623781" y="2029869"/>
                </a:lnTo>
                <a:lnTo>
                  <a:pt x="565735" y="1918125"/>
                </a:lnTo>
                <a:lnTo>
                  <a:pt x="510239" y="1805094"/>
                </a:lnTo>
                <a:lnTo>
                  <a:pt x="457322" y="1690832"/>
                </a:lnTo>
                <a:lnTo>
                  <a:pt x="407010" y="1575399"/>
                </a:lnTo>
                <a:lnTo>
                  <a:pt x="359331" y="1458854"/>
                </a:lnTo>
                <a:lnTo>
                  <a:pt x="314307" y="1341258"/>
                </a:lnTo>
                <a:lnTo>
                  <a:pt x="271964" y="1222671"/>
                </a:lnTo>
                <a:lnTo>
                  <a:pt x="232321" y="1103153"/>
                </a:lnTo>
                <a:lnTo>
                  <a:pt x="195400" y="982767"/>
                </a:lnTo>
                <a:lnTo>
                  <a:pt x="161221" y="861574"/>
                </a:lnTo>
                <a:lnTo>
                  <a:pt x="129799" y="739637"/>
                </a:lnTo>
                <a:lnTo>
                  <a:pt x="101152" y="617018"/>
                </a:lnTo>
                <a:lnTo>
                  <a:pt x="75294" y="493781"/>
                </a:lnTo>
                <a:lnTo>
                  <a:pt x="52239" y="369989"/>
                </a:lnTo>
                <a:lnTo>
                  <a:pt x="31998" y="245706"/>
                </a:lnTo>
                <a:lnTo>
                  <a:pt x="14582" y="120996"/>
                </a:lnTo>
                <a:lnTo>
                  <a:pt x="0" y="0"/>
                </a:lnTo>
              </a:path>
            </a:pathLst>
          </a:custGeom>
          <a:noFill/>
          <a:ln w="22225" cap="rnd">
            <a:solidFill>
              <a:srgbClr val="000000"/>
            </a:solidFill>
            <a:round/>
          </a:ln>
        </p:spPr>
        <p:txBody>
          <a:bodyPr/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73"/>
          </a:p>
        </p:txBody>
      </p:sp>
      <p:sp>
        <p:nvSpPr>
          <p:cNvPr id="14" name="Strategy space X"/>
          <p:cNvSpPr/>
          <p:nvPr/>
        </p:nvSpPr>
        <p:spPr>
          <a:xfrm>
            <a:off x="260105" y="210919"/>
            <a:ext cx="6777477" cy="6777477"/>
          </a:xfrm>
          <a:prstGeom prst="rect">
            <a:avLst/>
          </a:prstGeom>
          <a:noFill/>
          <a:ln w="15875" cap="rnd">
            <a:solidFill>
              <a:srgbClr val="000000"/>
            </a:solidFill>
            <a:round/>
          </a:ln>
        </p:spPr>
        <p:txBody>
          <a:bodyPr/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73"/>
          </a:p>
        </p:txBody>
      </p:sp>
      <p:sp>
        <p:nvSpPr>
          <p:cNvPr id="15" name="slice x2"/>
          <p:cNvSpPr/>
          <p:nvPr/>
        </p:nvSpPr>
        <p:spPr>
          <a:xfrm>
            <a:off x="1615604" y="1593522"/>
            <a:ext cx="146" cy="5394872"/>
          </a:xfrm>
          <a:custGeom>
            <a:avLst/>
            <a:gdLst/>
            <a:ahLst/>
            <a:cxnLst/>
            <a:rect l="0" t="0" r="r" b="b"/>
            <a:pathLst>
              <a:path w="127" h="4650232" fill="none">
                <a:moveTo>
                  <a:pt x="0" y="4650232"/>
                </a:move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C00000"/>
            </a:solidFill>
            <a:prstDash val="dash"/>
            <a:round/>
          </a:ln>
        </p:spPr>
        <p:txBody>
          <a:bodyPr/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73"/>
          </a:p>
        </p:txBody>
      </p:sp>
      <p:sp>
        <p:nvSpPr>
          <p:cNvPr id="16" name="slice x1"/>
          <p:cNvSpPr/>
          <p:nvPr/>
        </p:nvSpPr>
        <p:spPr>
          <a:xfrm>
            <a:off x="260105" y="5294027"/>
            <a:ext cx="4581575" cy="146"/>
          </a:xfrm>
          <a:custGeom>
            <a:avLst/>
            <a:gdLst/>
            <a:ahLst/>
            <a:cxnLst/>
            <a:rect l="0" t="0" r="r" b="b"/>
            <a:pathLst>
              <a:path w="3949192" h="127" fill="none">
                <a:moveTo>
                  <a:pt x="0" y="0"/>
                </a:moveTo>
                <a:lnTo>
                  <a:pt x="3949192" y="0"/>
                </a:lnTo>
              </a:path>
            </a:pathLst>
          </a:custGeom>
          <a:noFill/>
          <a:ln w="19050" cap="rnd">
            <a:solidFill>
              <a:srgbClr val="C00000"/>
            </a:solidFill>
            <a:prstDash val="dash"/>
            <a:round/>
          </a:ln>
        </p:spPr>
        <p:txBody>
          <a:bodyPr/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73"/>
          </a:p>
        </p:txBody>
      </p:sp>
      <p:sp>
        <p:nvSpPr>
          <p:cNvPr id="17" name="z to x2"/>
          <p:cNvSpPr/>
          <p:nvPr/>
        </p:nvSpPr>
        <p:spPr>
          <a:xfrm>
            <a:off x="1615602" y="4141858"/>
            <a:ext cx="3226078" cy="146"/>
          </a:xfrm>
          <a:custGeom>
            <a:avLst/>
            <a:gdLst/>
            <a:ahLst/>
            <a:cxnLst/>
            <a:rect l="0" t="0" r="r" b="b"/>
            <a:pathLst>
              <a:path w="2780792" h="127" fill="none">
                <a:moveTo>
                  <a:pt x="2780792" y="0"/>
                </a:moveTo>
                <a:lnTo>
                  <a:pt x="0" y="0"/>
                </a:lnTo>
              </a:path>
            </a:pathLst>
          </a:custGeom>
          <a:noFill/>
          <a:ln w="15875" cap="rnd">
            <a:solidFill>
              <a:srgbClr val="404040"/>
            </a:solidFill>
            <a:prstDash val="sysDash"/>
            <a:round/>
          </a:ln>
        </p:spPr>
        <p:txBody>
          <a:bodyPr/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73"/>
          </a:p>
        </p:txBody>
      </p:sp>
      <p:sp>
        <p:nvSpPr>
          <p:cNvPr id="18" name="predictor step"/>
          <p:cNvSpPr/>
          <p:nvPr/>
        </p:nvSpPr>
        <p:spPr>
          <a:xfrm>
            <a:off x="1615600" y="3057455"/>
            <a:ext cx="1084396" cy="2236569"/>
          </a:xfrm>
          <a:custGeom>
            <a:avLst/>
            <a:gdLst/>
            <a:ahLst/>
            <a:cxnLst/>
            <a:rect l="0" t="0" r="r" b="b"/>
            <a:pathLst>
              <a:path w="934720" h="1927860" fill="none">
                <a:moveTo>
                  <a:pt x="0" y="1927860"/>
                </a:moveTo>
                <a:lnTo>
                  <a:pt x="934720" y="0"/>
                </a:lnTo>
              </a:path>
            </a:pathLst>
          </a:custGeom>
          <a:noFill/>
          <a:ln w="25400" cap="rnd">
            <a:solidFill>
              <a:srgbClr val="1F4E9F"/>
            </a:solidFill>
            <a:round/>
            <a:tailEnd type="triangle" w="med" len="med"/>
          </a:ln>
        </p:spPr>
        <p:txBody>
          <a:bodyPr/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73"/>
          </a:p>
        </p:txBody>
      </p:sp>
      <p:sp>
        <p:nvSpPr>
          <p:cNvPr id="19" name="corrector step"/>
          <p:cNvSpPr/>
          <p:nvPr/>
        </p:nvSpPr>
        <p:spPr>
          <a:xfrm>
            <a:off x="1615601" y="4141853"/>
            <a:ext cx="4202034" cy="1152172"/>
          </a:xfrm>
          <a:custGeom>
            <a:avLst/>
            <a:gdLst/>
            <a:ahLst/>
            <a:cxnLst/>
            <a:rect l="0" t="0" r="r" b="b"/>
            <a:pathLst>
              <a:path w="3622040" h="993140" fill="none">
                <a:moveTo>
                  <a:pt x="0" y="993140"/>
                </a:moveTo>
                <a:lnTo>
                  <a:pt x="3622040" y="0"/>
                </a:lnTo>
              </a:path>
            </a:pathLst>
          </a:custGeom>
          <a:noFill/>
          <a:ln w="25400" cap="rnd">
            <a:solidFill>
              <a:srgbClr val="1F4E9F"/>
            </a:solidFill>
            <a:round/>
            <a:tailEnd type="triangle" w="med" len="med"/>
          </a:ln>
        </p:spPr>
        <p:txBody>
          <a:bodyPr/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73"/>
          </a:p>
        </p:txBody>
      </p:sp>
      <p:sp>
        <p:nvSpPr>
          <p:cNvPr id="20" name="F(y) at y"/>
          <p:cNvSpPr/>
          <p:nvPr/>
        </p:nvSpPr>
        <p:spPr>
          <a:xfrm>
            <a:off x="2699997" y="1905288"/>
            <a:ext cx="4202034" cy="1152172"/>
          </a:xfrm>
          <a:custGeom>
            <a:avLst/>
            <a:gdLst/>
            <a:ahLst/>
            <a:cxnLst/>
            <a:rect l="0" t="0" r="r" b="b"/>
            <a:pathLst>
              <a:path w="3622040" h="993140" fill="none">
                <a:moveTo>
                  <a:pt x="0" y="993140"/>
                </a:moveTo>
                <a:lnTo>
                  <a:pt x="3622040" y="0"/>
                </a:lnTo>
              </a:path>
            </a:pathLst>
          </a:custGeom>
          <a:noFill/>
          <a:ln w="19050" cap="rnd">
            <a:solidFill>
              <a:srgbClr val="1F4E9F"/>
            </a:solidFill>
            <a:prstDash val="dash"/>
            <a:round/>
            <a:tailEnd type="triangle" w="med" len="med"/>
          </a:ln>
        </p:spPr>
        <p:txBody>
          <a:bodyPr/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73"/>
          </a:p>
        </p:txBody>
      </p:sp>
      <p:sp>
        <p:nvSpPr>
          <p:cNvPr id="21" name="projection"/>
          <p:cNvSpPr/>
          <p:nvPr/>
        </p:nvSpPr>
        <p:spPr>
          <a:xfrm>
            <a:off x="4923010" y="4141858"/>
            <a:ext cx="894625" cy="146"/>
          </a:xfrm>
          <a:custGeom>
            <a:avLst/>
            <a:gdLst/>
            <a:ahLst/>
            <a:cxnLst/>
            <a:rect l="0" t="0" r="r" b="b"/>
            <a:pathLst>
              <a:path w="771144" h="127" fill="none">
                <a:moveTo>
                  <a:pt x="771144" y="0"/>
                </a:moveTo>
                <a:lnTo>
                  <a:pt x="0" y="0"/>
                </a:lnTo>
              </a:path>
            </a:pathLst>
          </a:custGeom>
          <a:noFill/>
          <a:ln w="15875" cap="rnd">
            <a:solidFill>
              <a:srgbClr val="404040"/>
            </a:solidFill>
            <a:prstDash val="sysDot"/>
            <a:round/>
            <a:tailEnd type="triangle" w="med" len="med"/>
          </a:ln>
        </p:spPr>
        <p:txBody>
          <a:bodyPr/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73"/>
          </a:p>
        </p:txBody>
      </p:sp>
      <p:sp>
        <p:nvSpPr>
          <p:cNvPr id="22" name="x - eta F(y)"/>
          <p:cNvSpPr/>
          <p:nvPr/>
        </p:nvSpPr>
        <p:spPr>
          <a:xfrm>
            <a:off x="5766069" y="4090287"/>
            <a:ext cx="103137" cy="103137"/>
          </a:xfrm>
          <a:prstGeom prst="ellipse">
            <a:avLst/>
          </a:prstGeom>
          <a:solidFill>
            <a:srgbClr val="FFFFFF"/>
          </a:solidFill>
          <a:ln w="19050" cap="rnd">
            <a:solidFill>
              <a:srgbClr val="000000"/>
            </a:solidFill>
            <a:round/>
          </a:ln>
        </p:spPr>
        <p:txBody>
          <a:bodyPr/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73"/>
          </a:p>
        </p:txBody>
      </p:sp>
      <p:sp>
        <p:nvSpPr>
          <p:cNvPr id="23" name="x_t"/>
          <p:cNvSpPr/>
          <p:nvPr/>
        </p:nvSpPr>
        <p:spPr>
          <a:xfrm>
            <a:off x="1541931" y="5220357"/>
            <a:ext cx="147339" cy="147339"/>
          </a:xfrm>
          <a:prstGeom prst="ellipse">
            <a:avLst/>
          </a:prstGeom>
          <a:solidFill>
            <a:srgbClr val="000000"/>
          </a:solidFill>
          <a:ln w="19050" cap="rnd">
            <a:solidFill>
              <a:srgbClr val="000000"/>
            </a:solidFill>
            <a:round/>
          </a:ln>
        </p:spPr>
        <p:txBody>
          <a:bodyPr/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73"/>
          </a:p>
        </p:txBody>
      </p:sp>
      <p:sp>
        <p:nvSpPr>
          <p:cNvPr id="24" name="y_t"/>
          <p:cNvSpPr/>
          <p:nvPr/>
        </p:nvSpPr>
        <p:spPr>
          <a:xfrm>
            <a:off x="2626327" y="2983789"/>
            <a:ext cx="147339" cy="147339"/>
          </a:xfrm>
          <a:prstGeom prst="ellipse">
            <a:avLst/>
          </a:prstGeom>
          <a:solidFill>
            <a:srgbClr val="000000"/>
          </a:solidFill>
          <a:ln w="19050" cap="rnd">
            <a:solidFill>
              <a:srgbClr val="000000"/>
            </a:solidFill>
            <a:round/>
          </a:ln>
        </p:spPr>
        <p:txBody>
          <a:bodyPr/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73"/>
          </a:p>
        </p:txBody>
      </p:sp>
      <p:sp>
        <p:nvSpPr>
          <p:cNvPr id="25" name="z_t"/>
          <p:cNvSpPr/>
          <p:nvPr/>
        </p:nvSpPr>
        <p:spPr>
          <a:xfrm>
            <a:off x="4768008" y="4068185"/>
            <a:ext cx="147339" cy="147339"/>
          </a:xfrm>
          <a:prstGeom prst="ellipse">
            <a:avLst/>
          </a:prstGeom>
          <a:solidFill>
            <a:srgbClr val="000000"/>
          </a:solidFill>
          <a:ln w="19050" cap="rnd">
            <a:solidFill>
              <a:srgbClr val="000000"/>
            </a:solidFill>
            <a:round/>
          </a:ln>
        </p:spPr>
        <p:txBody>
          <a:bodyPr/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73"/>
          </a:p>
        </p:txBody>
      </p:sp>
      <p:sp>
        <p:nvSpPr>
          <p:cNvPr id="26" name="x_t^(1)"/>
          <p:cNvSpPr/>
          <p:nvPr/>
        </p:nvSpPr>
        <p:spPr>
          <a:xfrm>
            <a:off x="4760643" y="5212991"/>
            <a:ext cx="162070" cy="162070"/>
          </a:xfrm>
          <a:prstGeom prst="ellipse">
            <a:avLst/>
          </a:prstGeom>
          <a:solidFill>
            <a:srgbClr val="FFFFFF"/>
          </a:solidFill>
          <a:ln w="19050" cap="rnd">
            <a:solidFill>
              <a:srgbClr val="000000"/>
            </a:solidFill>
            <a:round/>
          </a:ln>
        </p:spPr>
        <p:txBody>
          <a:bodyPr/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73"/>
          </a:p>
        </p:txBody>
      </p:sp>
      <p:sp>
        <p:nvSpPr>
          <p:cNvPr id="27" name="x_t^(2)"/>
          <p:cNvSpPr/>
          <p:nvPr/>
        </p:nvSpPr>
        <p:spPr>
          <a:xfrm>
            <a:off x="1534566" y="4060819"/>
            <a:ext cx="162070" cy="162070"/>
          </a:xfrm>
          <a:prstGeom prst="ellipse">
            <a:avLst/>
          </a:prstGeom>
          <a:solidFill>
            <a:srgbClr val="FFFFFF"/>
          </a:solidFill>
          <a:ln w="19050" cap="rnd">
            <a:solidFill>
              <a:srgbClr val="000000"/>
            </a:solidFill>
            <a:round/>
          </a:ln>
        </p:spPr>
        <p:txBody>
          <a:bodyPr/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73"/>
          </a:p>
        </p:txBody>
      </p:sp>
      <p:sp>
        <p:nvSpPr>
          <p:cNvPr id="28" name="lbl x_t"/>
          <p:cNvSpPr txBox="1"/>
          <p:nvPr/>
        </p:nvSpPr>
        <p:spPr>
          <a:xfrm>
            <a:off x="1344141" y="5316344"/>
            <a:ext cx="442009" cy="353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88" i="1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lang="en-US" sz="2088" i="1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29" name="lbl y_t"/>
          <p:cNvSpPr txBox="1"/>
          <p:nvPr/>
        </p:nvSpPr>
        <p:spPr>
          <a:xfrm>
            <a:off x="2446641" y="2644917"/>
            <a:ext cx="442009" cy="353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88" i="1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lang="en-US" sz="2088" i="1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30" name="lbl z_t"/>
          <p:cNvSpPr txBox="1"/>
          <p:nvPr/>
        </p:nvSpPr>
        <p:spPr>
          <a:xfrm>
            <a:off x="4575100" y="3679221"/>
            <a:ext cx="383074" cy="353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88" i="1" dirty="0">
                <a:solidFill>
                  <a:srgbClr val="000000"/>
                </a:solidFill>
                <a:latin typeface="Times New Roman"/>
                <a:cs typeface="Times New Roman"/>
              </a:rPr>
              <a:t>z</a:t>
            </a:r>
            <a:r>
              <a:rPr lang="en-US" sz="2088" i="1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31" name="lbl x1"/>
          <p:cNvSpPr txBox="1"/>
          <p:nvPr/>
        </p:nvSpPr>
        <p:spPr>
          <a:xfrm>
            <a:off x="4090853" y="5397163"/>
            <a:ext cx="677747" cy="38307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88" i="1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lang="en-US" sz="2088" i="1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lang="en-US" sz="2088" baseline="30000" dirty="0">
                <a:solidFill>
                  <a:srgbClr val="000000"/>
                </a:solidFill>
                <a:latin typeface="Times New Roman"/>
                <a:cs typeface="Times New Roman"/>
              </a:rPr>
              <a:t>(1)</a:t>
            </a:r>
          </a:p>
        </p:txBody>
      </p:sp>
      <p:sp>
        <p:nvSpPr>
          <p:cNvPr id="32" name="lbl x2"/>
          <p:cNvSpPr txBox="1"/>
          <p:nvPr/>
        </p:nvSpPr>
        <p:spPr>
          <a:xfrm>
            <a:off x="790518" y="3935583"/>
            <a:ext cx="736682" cy="38307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88" i="1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lang="en-US" sz="2088" i="1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lang="en-US" sz="2088" baseline="30000" dirty="0">
                <a:solidFill>
                  <a:srgbClr val="000000"/>
                </a:solidFill>
                <a:latin typeface="Times New Roman"/>
                <a:cs typeface="Times New Roman"/>
              </a:rPr>
              <a:t>(2)</a:t>
            </a:r>
          </a:p>
        </p:txBody>
      </p:sp>
      <p:sp>
        <p:nvSpPr>
          <p:cNvPr id="33" name="lbl -etaF(x)"/>
          <p:cNvSpPr txBox="1"/>
          <p:nvPr/>
        </p:nvSpPr>
        <p:spPr>
          <a:xfrm>
            <a:off x="1704298" y="3346236"/>
            <a:ext cx="1326029" cy="353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94" dirty="0">
                <a:solidFill>
                  <a:srgbClr val="1F4E9F"/>
                </a:solidFill>
                <a:latin typeface="Times New Roman"/>
                <a:cs typeface="Times New Roman"/>
              </a:rPr>
              <a:t>−</a:t>
            </a:r>
            <a:r>
              <a:rPr lang="en-US" sz="1894" i="1" dirty="0">
                <a:solidFill>
                  <a:srgbClr val="1F4E9F"/>
                </a:solidFill>
                <a:latin typeface="Times New Roman"/>
                <a:cs typeface="Times New Roman"/>
              </a:rPr>
              <a:t>ηF</a:t>
            </a:r>
            <a:r>
              <a:rPr lang="en-US" sz="1894" dirty="0">
                <a:solidFill>
                  <a:srgbClr val="1F4E9F"/>
                </a:solidFill>
                <a:latin typeface="Times New Roman"/>
                <a:cs typeface="Times New Roman"/>
              </a:rPr>
              <a:t>(</a:t>
            </a:r>
            <a:r>
              <a:rPr lang="en-US" sz="1894" i="1" dirty="0">
                <a:solidFill>
                  <a:srgbClr val="1F4E9F"/>
                </a:solidFill>
                <a:latin typeface="Times New Roman"/>
                <a:cs typeface="Times New Roman"/>
              </a:rPr>
              <a:t>x</a:t>
            </a:r>
            <a:r>
              <a:rPr lang="en-US" sz="1894" i="1" baseline="-25000" dirty="0">
                <a:solidFill>
                  <a:srgbClr val="1F4E9F"/>
                </a:solidFill>
                <a:latin typeface="Times New Roman"/>
                <a:cs typeface="Times New Roman"/>
              </a:rPr>
              <a:t>t</a:t>
            </a:r>
            <a:r>
              <a:rPr lang="en-US" sz="1894" dirty="0">
                <a:solidFill>
                  <a:srgbClr val="1F4E9F"/>
                </a:solidFill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34" name="lbl -etaF(y) top"/>
          <p:cNvSpPr txBox="1"/>
          <p:nvPr/>
        </p:nvSpPr>
        <p:spPr>
          <a:xfrm>
            <a:off x="4399670" y="1864325"/>
            <a:ext cx="1326029" cy="353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94" dirty="0">
                <a:solidFill>
                  <a:srgbClr val="1F4E9F"/>
                </a:solidFill>
                <a:latin typeface="Times New Roman"/>
                <a:cs typeface="Times New Roman"/>
              </a:rPr>
              <a:t>−</a:t>
            </a:r>
            <a:r>
              <a:rPr lang="en-US" sz="1894" i="1" dirty="0">
                <a:solidFill>
                  <a:srgbClr val="1F4E9F"/>
                </a:solidFill>
                <a:latin typeface="Times New Roman"/>
                <a:cs typeface="Times New Roman"/>
              </a:rPr>
              <a:t>ηF</a:t>
            </a:r>
            <a:r>
              <a:rPr lang="en-US" sz="1894" dirty="0">
                <a:solidFill>
                  <a:srgbClr val="1F4E9F"/>
                </a:solidFill>
                <a:latin typeface="Times New Roman"/>
                <a:cs typeface="Times New Roman"/>
              </a:rPr>
              <a:t>(</a:t>
            </a:r>
            <a:r>
              <a:rPr lang="en-US" sz="1894" i="1" dirty="0">
                <a:solidFill>
                  <a:srgbClr val="1F4E9F"/>
                </a:solidFill>
                <a:latin typeface="Times New Roman"/>
                <a:cs typeface="Times New Roman"/>
              </a:rPr>
              <a:t>y</a:t>
            </a:r>
            <a:r>
              <a:rPr lang="en-US" sz="1894" i="1" baseline="-25000" dirty="0">
                <a:solidFill>
                  <a:srgbClr val="1F4E9F"/>
                </a:solidFill>
                <a:latin typeface="Times New Roman"/>
                <a:cs typeface="Times New Roman"/>
              </a:rPr>
              <a:t>t</a:t>
            </a:r>
            <a:r>
              <a:rPr lang="en-US" sz="1894" dirty="0">
                <a:solidFill>
                  <a:srgbClr val="1F4E9F"/>
                </a:solidFill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35" name="lbl -etaF(y) bottom"/>
          <p:cNvSpPr txBox="1"/>
          <p:nvPr/>
        </p:nvSpPr>
        <p:spPr>
          <a:xfrm>
            <a:off x="4958175" y="4338547"/>
            <a:ext cx="1326029" cy="353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94" dirty="0">
                <a:solidFill>
                  <a:srgbClr val="1F4E9F"/>
                </a:solidFill>
                <a:latin typeface="Times New Roman"/>
                <a:cs typeface="Times New Roman"/>
              </a:rPr>
              <a:t>−</a:t>
            </a:r>
            <a:r>
              <a:rPr lang="en-US" sz="1894" i="1" dirty="0">
                <a:solidFill>
                  <a:srgbClr val="1F4E9F"/>
                </a:solidFill>
                <a:latin typeface="Times New Roman"/>
                <a:cs typeface="Times New Roman"/>
              </a:rPr>
              <a:t>ηF</a:t>
            </a:r>
            <a:r>
              <a:rPr lang="en-US" sz="1894" dirty="0">
                <a:solidFill>
                  <a:srgbClr val="1F4E9F"/>
                </a:solidFill>
                <a:latin typeface="Times New Roman"/>
                <a:cs typeface="Times New Roman"/>
              </a:rPr>
              <a:t>(</a:t>
            </a:r>
            <a:r>
              <a:rPr lang="en-US" sz="1894" i="1" dirty="0">
                <a:solidFill>
                  <a:srgbClr val="1F4E9F"/>
                </a:solidFill>
                <a:latin typeface="Times New Roman"/>
                <a:cs typeface="Times New Roman"/>
              </a:rPr>
              <a:t>y</a:t>
            </a:r>
            <a:r>
              <a:rPr lang="en-US" sz="1894" i="1" baseline="-25000" dirty="0">
                <a:solidFill>
                  <a:srgbClr val="1F4E9F"/>
                </a:solidFill>
                <a:latin typeface="Times New Roman"/>
                <a:cs typeface="Times New Roman"/>
              </a:rPr>
              <a:t>t</a:t>
            </a:r>
            <a:r>
              <a:rPr lang="en-US" sz="1894" dirty="0">
                <a:solidFill>
                  <a:srgbClr val="1F4E9F"/>
                </a:solidFill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36" name="lbl proj"/>
          <p:cNvSpPr txBox="1"/>
          <p:nvPr/>
        </p:nvSpPr>
        <p:spPr>
          <a:xfrm>
            <a:off x="5228291" y="3817715"/>
            <a:ext cx="589345" cy="32414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740" dirty="0">
                <a:solidFill>
                  <a:srgbClr val="404040"/>
                </a:solidFill>
                <a:latin typeface="Times New Roman"/>
                <a:cs typeface="Times New Roman"/>
              </a:rPr>
              <a:t>Π</a:t>
            </a:r>
            <a:r>
              <a:rPr lang="en-US" sz="1740" i="1" baseline="-25000" dirty="0">
                <a:solidFill>
                  <a:srgbClr val="404040"/>
                </a:solidFill>
                <a:latin typeface="Times New Roman"/>
                <a:cs typeface="Times New Roman"/>
              </a:rPr>
              <a:t>K</a:t>
            </a:r>
            <a:r>
              <a:rPr lang="en-US" sz="1158" i="1" baseline="-50000" dirty="0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37" name="lbl K_t"/>
          <p:cNvSpPr txBox="1"/>
          <p:nvPr/>
        </p:nvSpPr>
        <p:spPr>
          <a:xfrm>
            <a:off x="377975" y="1151514"/>
            <a:ext cx="884020" cy="38307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321" i="1" dirty="0">
                <a:solidFill>
                  <a:srgbClr val="C00000"/>
                </a:solidFill>
                <a:latin typeface="Times New Roman"/>
                <a:cs typeface="Times New Roman"/>
              </a:rPr>
              <a:t>K</a:t>
            </a:r>
            <a:r>
              <a:rPr lang="en-US" sz="2321" i="1" baseline="-25000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38" name="lbl C"/>
          <p:cNvSpPr txBox="1"/>
          <p:nvPr/>
        </p:nvSpPr>
        <p:spPr>
          <a:xfrm>
            <a:off x="6595571" y="6450618"/>
            <a:ext cx="589345" cy="38307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defPPr>
              <a:defRPr lang="ko-KR"/>
            </a:defPPr>
            <a:lvl1pPr marL="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287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31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575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187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625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00625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15000" algn="l" defTabSz="1428750" rtl="0" eaLnBrk="1" latinLnBrk="1" hangingPunct="1">
              <a:defRPr sz="2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321" i="1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949648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4149079-C841-4A41-AF76-473C37849BCD}">
  <we:reference id="wa200010725" version="1.0.0.1" store="ko-KR" storeType="OMEX"/>
  <we:alternateReferences>
    <we:reference id="WA200010725" version="1.0.0.1" store="" storeType="OMEX"/>
  </we:alternateReferences>
  <we:properties>
    <we:property name="claude.fileId" value="&quot;e711c392-9484-47fc-a00b-3c11e09f0d4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</TotalTime>
  <Words>29</Words>
  <Application>Microsoft Office PowerPoint</Application>
  <PresentationFormat>사용자 지정</PresentationFormat>
  <Paragraphs>11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도윤 전</dc:creator>
  <cp:lastModifiedBy>도윤 전</cp:lastModifiedBy>
  <cp:revision>5</cp:revision>
  <dcterms:created xsi:type="dcterms:W3CDTF">2026-10-25T08:51:16Z</dcterms:created>
  <dcterms:modified xsi:type="dcterms:W3CDTF">2026-10-25T09:01:27Z</dcterms:modified>
</cp:coreProperties>
</file>